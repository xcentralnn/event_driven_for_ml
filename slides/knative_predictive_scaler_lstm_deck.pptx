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Hero visual: nền dark navy, đường forecast màu cyan/orange, biểu tượng Kubernetes/Knative theo phong cách AWS re:Invent.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Timeline request -&gt; scheduling -&gt; container initialization -&gt; ready -&gt; response; tô màu cam vùng cold-start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Đồ thị minh họa traffic tăng trước, replica tăng sau; vùng trễ được highlight màu 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Sơ đồ 4 bước predict -&gt; smooth -&gt; scale -&gt; ready với màu cyan/purple/orange/green.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Architecture diagram: Client -&gt; Knative Service -&gt; Prometheus -&gt; Predictive Scaler -&gt; Kubernetes API -&gt; Ready Pods.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Dùng ảnh ML Model Insights Dashboard; crop phần chart forecast và panel model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Pipeline diagram ngang 5 bước: metrics -&gt; preprocessing -&gt; LSTM -&gt; denormalization -&gt; scaling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Biểu đồ raw prediction dao động mạnh so với smoothed replica target ổn định.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Đồ thị tải 3 pha: baseline -&gt; spike -&gt; stabilization; overlay predicted replicas và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Dùng ảnh Executive Dashboard đã gửi; crop rõ KPI cards, scaling trajectory, lifecycle state, cluster topology.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Biểu đồ cột so sánh 3500ms trước tối ưu và 120ms sau tối ưu; callout 96.6% latency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[Gợi ý Hình ảnh/Diagram] Final summary visual: Reactive Knative chuyển thành Predictive Knative; AWS-style orange arrow transformation.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22960" y="1828800"/>
            <a:ext cx="10424160" cy="3566160"/>
          </a:xfrm>
          <a:prstGeom prst="line">
            <a:avLst/>
          </a:prstGeom>
          <a:noFill/>
          <a:ln w="12700">
            <a:solidFill>
              <a:srgbClr val="26324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657600" y="1371600"/>
            <a:ext cx="7772400" cy="4389120"/>
          </a:xfrm>
          <a:prstGeom prst="line">
            <a:avLst/>
          </a:prstGeom>
          <a:noFill/>
          <a:ln w="12700">
            <a:solidFill>
              <a:srgbClr val="263247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051560"/>
            <a:ext cx="2331720" cy="310896"/>
          </a:xfrm>
          <a:prstGeom prst="rect">
            <a:avLst/>
          </a:prstGeom>
          <a:solidFill>
            <a:srgbClr val="FF9900"/>
          </a:solidFill>
          <a:ln>
            <a:solidFill>
              <a:srgbClr val="FF9900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21"/>
                </a:solidFill>
              </a:rPr>
              <a:t>SERVERLESS · KNATIVE · LSTM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6384" y="1627632"/>
            <a:ext cx="102412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hóa Cold-start cho Serverless Knative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lịch dự đoán với mô hình chuỗi thời gian LSTM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2960" y="5376672"/>
            <a:ext cx="3291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Ngọc Tiểu Long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5724144"/>
            <a:ext cx="3291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&amp; AI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60920" y="528523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→ smooth → scale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đề: Cold-start trong Serverless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Latency spike xuất hiện khi workload scale từ zero lên active.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783080"/>
            <a:ext cx="5852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= thời gian hệ thống tạo pod sẵn sàng trước khi request được xử lý.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514600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423160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chưa tồn tại hoặc chưa Ready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935224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843784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+ image pull + container init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355848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264408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đầu tiên chịu độ trễ cao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977640"/>
            <a:ext cx="2194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LATENCY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777240" y="4270248"/>
            <a:ext cx="2194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3500 ms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989320" y="4416552"/>
            <a:ext cx="7315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349240" y="4251960"/>
            <a:ext cx="914400" cy="38404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FF99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Request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7315200" y="4416552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675120" y="4251960"/>
            <a:ext cx="914400" cy="384048"/>
          </a:xfrm>
          <a:prstGeom prst="rect">
            <a:avLst/>
          </a:prstGeom>
          <a:solidFill>
            <a:srgbClr val="0F172A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Schedule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8641080" y="4416552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001000" y="4251960"/>
            <a:ext cx="914400" cy="384048"/>
          </a:xfrm>
          <a:prstGeom prst="rect">
            <a:avLst/>
          </a:prstGeom>
          <a:solidFill>
            <a:srgbClr val="0F172A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Init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9966960" y="4416552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326880" y="4251960"/>
            <a:ext cx="914400" cy="384048"/>
          </a:xfrm>
          <a:prstGeom prst="rect">
            <a:avLst/>
          </a:prstGeom>
          <a:solidFill>
            <a:srgbClr val="0F172A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Ready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10652760" y="4251960"/>
            <a:ext cx="914400" cy="384048"/>
          </a:xfrm>
          <a:prstGeom prst="rect">
            <a:avLst/>
          </a:prstGeom>
          <a:solidFill>
            <a:srgbClr val="0F172A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Response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6080760" y="4983480"/>
            <a:ext cx="2423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5413248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gap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của Knative: Reactive Scaling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Autoscaler phản ứng sau khi traffic đã xuất hiện.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057400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Dựa trên concurrency/RPS quan sát được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2478024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386584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Scale-up xảy ra sau traffic spike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" y="2898648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2807208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dự đoán được nhu cầu replica sắp tới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4846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scaling ≠ proactive readiness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23560" y="5440680"/>
            <a:ext cx="5394960" cy="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1965960"/>
            <a:ext cx="0" cy="347472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4754880"/>
            <a:ext cx="5394960" cy="0"/>
          </a:xfrm>
          <a:prstGeom prst="line">
            <a:avLst/>
          </a:prstGeom>
          <a:noFill/>
          <a:ln w="6350">
            <a:solidFill>
              <a:srgbClr val="1E2A3B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4069080"/>
            <a:ext cx="5394960" cy="0"/>
          </a:xfrm>
          <a:prstGeom prst="line">
            <a:avLst/>
          </a:prstGeom>
          <a:noFill/>
          <a:ln w="6350">
            <a:solidFill>
              <a:srgbClr val="1E2A3B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3383280"/>
            <a:ext cx="5394960" cy="0"/>
          </a:xfrm>
          <a:prstGeom prst="line">
            <a:avLst/>
          </a:prstGeom>
          <a:noFill/>
          <a:ln w="6350">
            <a:solidFill>
              <a:srgbClr val="1E2A3B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697480"/>
            <a:ext cx="5394960" cy="0"/>
          </a:xfrm>
          <a:prstGeom prst="line">
            <a:avLst/>
          </a:prstGeom>
          <a:noFill/>
          <a:ln w="6350">
            <a:solidFill>
              <a:srgbClr val="1E2A3B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5120640"/>
            <a:ext cx="118872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6812280" y="3063240"/>
            <a:ext cx="731520" cy="205740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543800" y="2697480"/>
            <a:ext cx="822960" cy="36576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366760" y="2651760"/>
            <a:ext cx="1280160" cy="4572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9646920" y="2606040"/>
            <a:ext cx="1188720" cy="4572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5166360"/>
            <a:ext cx="210312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726680" y="4343400"/>
            <a:ext cx="640080" cy="82296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8366760" y="3474720"/>
            <a:ext cx="914400" cy="86868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9281160" y="3108960"/>
            <a:ext cx="1554480" cy="36576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0" y="2011680"/>
            <a:ext cx="1280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spike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09760" y="2331720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response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4279392"/>
            <a:ext cx="1737360" cy="256032"/>
          </a:xfrm>
          <a:prstGeom prst="rect">
            <a:avLst/>
          </a:prstGeom>
          <a:solidFill>
            <a:srgbClr val="FF9900"/>
          </a:solidFill>
          <a:ln>
            <a:solidFill>
              <a:srgbClr val="FF990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21"/>
                </a:solidFill>
              </a:rPr>
              <a:t>cold-start window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đề xuất: Predictive Scaler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Chuyển Knative từ phản ứng thụ động sang chuẩn bị chủ động.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874520"/>
            <a:ext cx="2057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713232" y="2157984"/>
            <a:ext cx="1920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257860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elimination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3337560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46120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traffic trước vài bước thời gian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3758184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Pre-warm ready replicas trước spike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" y="4178808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87368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phối scale qua Kubernetes API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97880" y="3063240"/>
            <a:ext cx="6858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26680" y="3063240"/>
            <a:ext cx="6858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55480" y="3063240"/>
            <a:ext cx="4114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983480" y="2788920"/>
            <a:ext cx="1051560" cy="56692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Predict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812280" y="2788920"/>
            <a:ext cx="1051560" cy="56692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A78BF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Smooth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641080" y="2788920"/>
            <a:ext cx="1051560" cy="56692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FF99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Scale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10195560" y="2788920"/>
            <a:ext cx="1051560" cy="56692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34D39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Ready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5788152" y="3822192"/>
            <a:ext cx="4114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control logic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4160520"/>
            <a:ext cx="5303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→ LSTM inference → smoothing → replica target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tổng thể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End-to-end control loop giữa metrics, mô hình LSTM và Knative.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3017520"/>
            <a:ext cx="11887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3017520"/>
            <a:ext cx="9601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3017520"/>
            <a:ext cx="9601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3017520"/>
            <a:ext cx="10515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2057400" y="3657600"/>
            <a:ext cx="7772400" cy="1572768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58368" y="2743200"/>
            <a:ext cx="1234440" cy="548640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Client Traffic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2834640" y="2743200"/>
            <a:ext cx="1325880" cy="548640"/>
          </a:xfrm>
          <a:prstGeom prst="rect">
            <a:avLst/>
          </a:prstGeom>
          <a:solidFill>
            <a:srgbClr val="0F172A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Knative Service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709160" y="2743200"/>
            <a:ext cx="1554480" cy="548640"/>
          </a:xfrm>
          <a:prstGeom prst="rect">
            <a:avLst/>
          </a:prstGeom>
          <a:solidFill>
            <a:srgbClr val="0F172A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Prometheus Metrics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6995160" y="2606040"/>
            <a:ext cx="1600200" cy="822960"/>
          </a:xfrm>
          <a:prstGeom prst="rect">
            <a:avLst/>
          </a:prstGeom>
          <a:solidFill>
            <a:srgbClr val="0F172A">
              <a:alpha val="92000"/>
            </a:srgbClr>
          </a:solidFill>
          <a:ln w="15240">
            <a:solidFill>
              <a:srgbClr val="FF99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Predictive Scaler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Controller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9235440" y="2743200"/>
            <a:ext cx="1325880" cy="548640"/>
          </a:xfrm>
          <a:prstGeom prst="rect">
            <a:avLst/>
          </a:prstGeom>
          <a:solidFill>
            <a:srgbClr val="0F172A">
              <a:alpha val="92000"/>
            </a:srgbClr>
          </a:solidFill>
          <a:ln w="15240">
            <a:solidFill>
              <a:srgbClr val="FF99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Kubernetes API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932688" y="5074920"/>
            <a:ext cx="1325880" cy="548640"/>
          </a:xfrm>
          <a:prstGeom prst="rect">
            <a:avLst/>
          </a:prstGeom>
          <a:solidFill>
            <a:srgbClr val="0F172A">
              <a:alpha val="92000"/>
            </a:srgbClr>
          </a:solidFill>
          <a:ln w="15240">
            <a:solidFill>
              <a:srgbClr val="34D39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Ready Pods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6812280" y="4023360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Control-plane path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840480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Data-plane path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LSTM Forecasting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Time-series engine dự đoán concurrency/RPS trước khi autoscaler phản ứng.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828800"/>
            <a:ext cx="347472" cy="347472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2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1856232"/>
            <a:ext cx="1737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" y="2423160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LSTM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2843784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52344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size: 128 units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3264408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172968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 0.2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3749040"/>
            <a:ext cx="347472" cy="347472"/>
          </a:xfrm>
          <a:prstGeom prst="rect">
            <a:avLst/>
          </a:prstGeom>
          <a:solidFill>
            <a:srgbClr val="34D399"/>
          </a:solidFill>
          <a:ln>
            <a:solidFill>
              <a:srgbClr val="34D39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21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776472"/>
            <a:ext cx="1737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Metrics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" y="4343400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RMSE: 0.042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4764024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672584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0.0018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" y="5184648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093208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AdamW</a:t>
            </a:r>
            <a:endParaRPr lang="en-US" sz="1300" dirty="0"/>
          </a:p>
        </p:txBody>
      </p:sp>
      <p:pic>
        <p:nvPicPr>
          <p:cNvPr id="28" name="Image 0" descr="/mnt/data/image(22).png">    </p:cNvPr>
          <p:cNvPicPr>
            <a:picLocks noChangeAspect="1"/>
          </p:cNvPicPr>
          <p:nvPr/>
        </p:nvPicPr>
        <p:blipFill>
          <a:blip r:embed="rId1"/>
          <a:srcRect l="24000" r="17729" t="4000" b="10000"/>
          <a:stretch/>
        </p:blipFill>
        <p:spPr>
          <a:xfrm>
            <a:off x="4617720" y="1783080"/>
            <a:ext cx="66751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Pipeline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Từ PromQL metrics đến replica recommendation.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108960"/>
            <a:ext cx="7772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3108960"/>
            <a:ext cx="7772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0" y="3108960"/>
            <a:ext cx="7772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01000" y="3108960"/>
            <a:ext cx="7772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85800" y="2834640"/>
            <a:ext cx="1325880" cy="65836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PromQL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Metrics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2743200" y="2834640"/>
            <a:ext cx="1325880" cy="65836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A78BF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Normalize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Window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4800600" y="2834640"/>
            <a:ext cx="1325880" cy="65836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FF99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LSTM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Forward Pass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858000" y="2834640"/>
            <a:ext cx="1325880" cy="65836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34D39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Denormalize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Prediction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8915400" y="2834640"/>
            <a:ext cx="1325880" cy="658368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Replica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Target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960120" y="3977640"/>
            <a:ext cx="777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977640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67728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0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decision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Smoothing Algorithm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Ổn định quyết định scale và tránh replica oscillation.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2423160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bỏ spike nhiễu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" y="2843784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52344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hạn scale jump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3264408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72968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scale up/down liên tục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4553712"/>
            <a:ext cx="4206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R_target = smooth(R_predicted, R_current)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577840" y="5440680"/>
            <a:ext cx="5257800" cy="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1828800"/>
            <a:ext cx="0" cy="361188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4754880"/>
            <a:ext cx="5257800" cy="0"/>
          </a:xfrm>
          <a:prstGeom prst="line">
            <a:avLst/>
          </a:prstGeom>
          <a:noFill/>
          <a:ln w="6350">
            <a:solidFill>
              <a:srgbClr val="1E2A3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4069080"/>
            <a:ext cx="5257800" cy="0"/>
          </a:xfrm>
          <a:prstGeom prst="line">
            <a:avLst/>
          </a:prstGeom>
          <a:noFill/>
          <a:ln w="6350">
            <a:solidFill>
              <a:srgbClr val="1E2A3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3383280"/>
            <a:ext cx="5257800" cy="0"/>
          </a:xfrm>
          <a:prstGeom prst="line">
            <a:avLst/>
          </a:prstGeom>
          <a:noFill/>
          <a:ln w="6350">
            <a:solidFill>
              <a:srgbClr val="1E2A3B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2697480"/>
            <a:ext cx="5257800" cy="0"/>
          </a:xfrm>
          <a:prstGeom prst="line">
            <a:avLst/>
          </a:prstGeom>
          <a:noFill/>
          <a:ln w="6350">
            <a:solidFill>
              <a:srgbClr val="1E2A3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577840" y="3657600"/>
            <a:ext cx="640080" cy="128016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457200" cy="100584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675120" y="2880360"/>
            <a:ext cx="548640" cy="178308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2880360"/>
            <a:ext cx="548640" cy="150876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772400" y="2651760"/>
            <a:ext cx="548640" cy="173736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2651760"/>
            <a:ext cx="822960" cy="18288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9144000" y="2560320"/>
            <a:ext cx="548640" cy="27432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2560320"/>
            <a:ext cx="914400" cy="18288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577840" y="4572000"/>
            <a:ext cx="822960" cy="36576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400800" y="4160520"/>
            <a:ext cx="731520" cy="41148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7132320" y="3657600"/>
            <a:ext cx="731520" cy="50292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863840" y="3246120"/>
            <a:ext cx="822960" cy="41148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8686800" y="2971800"/>
            <a:ext cx="914400" cy="27432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9601200" y="2743200"/>
            <a:ext cx="1005840" cy="22860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81160" y="1965960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prediction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81160" y="2286000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Smoothed target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Scenario: Traffic Spike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Kiểm thử tải có spike để đánh giá pre-warming.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5715000"/>
            <a:ext cx="6720840" cy="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874520"/>
            <a:ext cx="0" cy="384048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120640"/>
            <a:ext cx="6720840" cy="0"/>
          </a:xfrm>
          <a:prstGeom prst="line">
            <a:avLst/>
          </a:prstGeom>
          <a:noFill/>
          <a:ln w="6350">
            <a:solidFill>
              <a:srgbClr val="1E2A3B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526280"/>
            <a:ext cx="6720840" cy="0"/>
          </a:xfrm>
          <a:prstGeom prst="line">
            <a:avLst/>
          </a:prstGeom>
          <a:noFill/>
          <a:ln w="6350">
            <a:solidFill>
              <a:srgbClr val="1E2A3B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31920"/>
            <a:ext cx="6720840" cy="0"/>
          </a:xfrm>
          <a:prstGeom prst="line">
            <a:avLst/>
          </a:prstGeom>
          <a:noFill/>
          <a:ln w="6350">
            <a:solidFill>
              <a:srgbClr val="1E2A3B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337560"/>
            <a:ext cx="6720840" cy="0"/>
          </a:xfrm>
          <a:prstGeom prst="line">
            <a:avLst/>
          </a:prstGeom>
          <a:noFill/>
          <a:ln w="6350">
            <a:solidFill>
              <a:srgbClr val="1E2A3B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743200"/>
            <a:ext cx="6720840" cy="0"/>
          </a:xfrm>
          <a:prstGeom prst="line">
            <a:avLst/>
          </a:prstGeom>
          <a:noFill/>
          <a:ln w="6350">
            <a:solidFill>
              <a:srgbClr val="1E2A3B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731520" y="5120640"/>
            <a:ext cx="1097280" cy="4572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828800" y="4892040"/>
            <a:ext cx="914400" cy="22860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743200" y="3383280"/>
            <a:ext cx="822960" cy="150876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566160" y="2532888"/>
            <a:ext cx="1005840" cy="850392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532888"/>
            <a:ext cx="822960" cy="210312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2743200"/>
            <a:ext cx="822960" cy="59436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337560"/>
            <a:ext cx="1005840" cy="91440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440680"/>
            <a:ext cx="10972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828800" y="4892040"/>
            <a:ext cx="914400" cy="54864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743200" y="3886200"/>
            <a:ext cx="548640" cy="100584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291840" y="3154680"/>
            <a:ext cx="731520" cy="73152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4023360" y="3063240"/>
            <a:ext cx="822960" cy="9144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063240"/>
            <a:ext cx="1097280" cy="18288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246120"/>
            <a:ext cx="1280160" cy="59436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87452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15000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replicas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2057400"/>
            <a:ext cx="347472" cy="347472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21"/>
                </a:solidFill>
              </a:rPr>
              <a:t>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2084832"/>
            <a:ext cx="1737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29600" y="3063240"/>
            <a:ext cx="347472" cy="347472"/>
          </a:xfrm>
          <a:prstGeom prst="rect">
            <a:avLst/>
          </a:prstGeom>
          <a:solidFill>
            <a:srgbClr val="FF9900"/>
          </a:solidFill>
          <a:ln>
            <a:solidFill>
              <a:srgbClr val="FF990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21"/>
                </a:solidFill>
              </a:rPr>
              <a:t>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0" y="3090672"/>
            <a:ext cx="1737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0" y="4069080"/>
            <a:ext cx="347472" cy="347472"/>
          </a:xfrm>
          <a:prstGeom prst="rect">
            <a:avLst/>
          </a:prstGeom>
          <a:solidFill>
            <a:srgbClr val="34D399"/>
          </a:solidFill>
          <a:ln>
            <a:solidFill>
              <a:srgbClr val="34D39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21"/>
                </a:solidFill>
              </a:rPr>
              <a:t>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0" y="4096512"/>
            <a:ext cx="1737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Stabilization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257032" y="4919472"/>
            <a:ext cx="3017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Scaler tạo ready replicas trước khi request spike chạm pod zero.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Giám sát operational state của Predictive Scaler.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74520"/>
            <a:ext cx="2057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CONCURRENCY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920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RPS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057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REPLICAS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3291840" y="2157984"/>
            <a:ext cx="1920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32120" y="1874520"/>
            <a:ext cx="2057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STARTS PREVENTED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532120" y="2157984"/>
            <a:ext cx="1920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818120" y="1874520"/>
            <a:ext cx="2057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SCORE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7818120" y="2157984"/>
            <a:ext cx="1920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</a:t>
            </a:r>
            <a:endParaRPr lang="en-US" sz="2400" dirty="0"/>
          </a:p>
        </p:txBody>
      </p:sp>
      <p:pic>
        <p:nvPicPr>
          <p:cNvPr id="20" name="Image 0" descr="/mnt/data/image(21).png">    </p:cNvPr>
          <p:cNvPicPr>
            <a:picLocks noChangeAspect="1"/>
          </p:cNvPicPr>
          <p:nvPr/>
        </p:nvPicPr>
        <p:blipFill>
          <a:blip r:embed="rId1"/>
          <a:srcRect l="18000" r="-8662" t="18000" b="18000"/>
          <a:stretch/>
        </p:blipFill>
        <p:spPr>
          <a:xfrm>
            <a:off x="731520" y="2971800"/>
            <a:ext cx="107899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hiệu năng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Cold-start latency được giảm từ giây xuống gần warm-start latency.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166360"/>
            <a:ext cx="6400800" cy="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194560"/>
            <a:ext cx="1051560" cy="2971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5056632"/>
            <a:ext cx="105156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3500 ms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977640" y="4617720"/>
            <a:ext cx="1417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17320" y="5376672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5376672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~96.6% latency reduction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498080" y="2880360"/>
            <a:ext cx="3474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cold-start eliminated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516368" y="3703320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User-facing latency chuyển gần về warm-start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1"/>
          </a:solidFill>
          <a:ln w="12700">
            <a:solidFill>
              <a:srgbClr val="0711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0F16"/>
          </a:solidFill>
          <a:ln w="12700">
            <a:solidFill>
              <a:srgbClr val="0B0F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Knative Predictive Scaler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&amp; hướng phát triển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5C8"/>
                </a:solidFill>
              </a:rPr>
              <a:t>Predictive scaling làm Knative chủ động hơn trong workload biến động.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10835640" cy="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10972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48840"/>
            <a:ext cx="2057400" cy="777240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FF99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Reactive Knative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Scale after traffic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3154680" y="2542032"/>
            <a:ext cx="16459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956048" y="2148840"/>
            <a:ext cx="2240280" cy="777240"/>
          </a:xfrm>
          <a:prstGeom prst="rect">
            <a:avLst/>
          </a:prstGeom>
          <a:solidFill>
            <a:srgbClr val="0B0F16">
              <a:alpha val="92000"/>
            </a:srgbClr>
          </a:solidFill>
          <a:ln w="15240">
            <a:solidFill>
              <a:srgbClr val="34D39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Predictive Knative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Ready before spike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" y="4297680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206240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forecast incoming load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968" y="4718304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Smoothing ổn định replica target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" y="5138928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047488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pods tồn tại trước traffic spike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6968" y="5559552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468112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impact được loại bỏ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3524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62672" y="2606040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27264" y="251460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62672" y="3026664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27264" y="2935224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Multi-service prediction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62672" y="3447288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27264" y="3355848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Cost-aware scaling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62672" y="3867912"/>
            <a:ext cx="73152" cy="731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27264" y="3776472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observability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35240" y="5074920"/>
            <a:ext cx="31089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→ smooth → scale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Cloud Computing and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Cold-start Latency for Serverless Knative using Predictive Scheduling and LSTM</dc:title>
  <dc:subject>Knative Predictive Scaler using LSTM</dc:subject>
  <dc:creator>Nguyen Ngoc Tieu Long</dc:creator>
  <cp:lastModifiedBy>Nguyen Ngoc Tieu Long</cp:lastModifiedBy>
  <cp:revision>1</cp:revision>
  <dcterms:created xsi:type="dcterms:W3CDTF">2026-07-09T14:52:51Z</dcterms:created>
  <dcterms:modified xsi:type="dcterms:W3CDTF">2026-07-09T14:52:51Z</dcterms:modified>
</cp:coreProperties>
</file>